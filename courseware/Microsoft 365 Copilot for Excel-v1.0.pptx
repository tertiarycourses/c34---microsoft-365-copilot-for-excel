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Microsoft 365 Copilot for Excel</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C34</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29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TRAINERS LISTED FOR C34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Course Trainer Profiles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Ken Hiong</a:t>
            </a:r>
          </a:p>
          <a:p>
            <a:pPr algn="l">
              <a:spcAft>
                <a:spcPts val="300"/>
              </a:spcAft>
            </a:pPr>
            <a:r>
              <a:rPr sz="1300" b="0">
                <a:solidFill>
                  <a:srgbClr val="5B6372"/>
                </a:solidFill>
                <a:latin typeface="Arial"/>
              </a:rPr>
              <a:t>Excel practitioner and adult educator with experience in business analysis, planning and reporting.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Jim Gan Chiu Liang</a:t>
            </a:r>
          </a:p>
          <a:p>
            <a:pPr algn="l">
              <a:spcAft>
                <a:spcPts val="300"/>
              </a:spcAft>
            </a:pPr>
            <a:r>
              <a:rPr sz="1300" b="0">
                <a:solidFill>
                  <a:srgbClr val="5B6372"/>
                </a:solidFill>
                <a:latin typeface="Arial"/>
              </a:rPr>
              <a:t>Data automation specialist with extensive experience building practical Excel workflows.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Liew Sing Loon</a:t>
            </a:r>
          </a:p>
          <a:p>
            <a:pPr algn="l">
              <a:spcAft>
                <a:spcPts val="300"/>
              </a:spcAft>
            </a:pPr>
            <a:r>
              <a:rPr sz="1300" b="0">
                <a:solidFill>
                  <a:srgbClr val="5B6372"/>
                </a:solidFill>
                <a:latin typeface="Arial"/>
              </a:rPr>
              <a:t>Technology and management educator with applied quantitative-analysis experience.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Dwight Nuwan Fonseka</a:t>
            </a:r>
          </a:p>
          <a:p>
            <a:pPr algn="l">
              <a:spcAft>
                <a:spcPts val="300"/>
              </a:spcAft>
            </a:pPr>
            <a:r>
              <a:rPr sz="1300" b="0">
                <a:solidFill>
                  <a:srgbClr val="5B6372"/>
                </a:solidFill>
                <a:latin typeface="Arial"/>
              </a:rPr>
              <a:t>Data science leader and adult educator specialising in analytics, machine learning and responsible AI.</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name, organisation and role.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One recurring spreadsheet task that takes too long today.</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One decision your spreadsheet should help someone make.</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Whether you can see Copilot in Excel and which app or web version you are using.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MATERIALS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 Course Materials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C34 course page or the trainer-supplied Drive folder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courseware links for this course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Learner Guide and Lesson Plan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Activities folder for all six labs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 files together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1F6FEB"/>
                </a:solidFill>
                <a:latin typeface="Arial"/>
              </a:rPr>
              <a:t>Course page:  tertiarycourses.com.sg/microsoft-365-copilot-for-excel.html</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Lesson Plan — 1 Day, 7.5 instructional hours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format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Prepare, transform, analyse and verify one Copilot-assisted Excel workflow</a:t>
            </a:r>
          </a:p>
          <a:p>
            <a:pPr>
              <a:spcAft>
                <a:spcPts val="1000"/>
              </a:spcAft>
            </a:pPr>
            <a:r>
              <a:rPr sz="1400" b="0">
                <a:solidFill>
                  <a:srgbClr val="5B6372"/>
                </a:solidFill>
                <a:latin typeface="Arial"/>
              </a:rPr>
              <a:t>–  Topic 1: Getting Started with Copilot in Excel (Labs 1–3)</a:t>
            </a:r>
          </a:p>
          <a:p>
            <a:pPr>
              <a:spcAft>
                <a:spcPts val="1000"/>
              </a:spcAft>
            </a:pPr>
            <a:r>
              <a:rPr sz="1400" b="0">
                <a:solidFill>
                  <a:srgbClr val="5B6372"/>
                </a:solidFill>
                <a:latin typeface="Arial"/>
              </a:rPr>
              <a:t>–  Topic 2: AI-Powered Data Analysis and Insights (Labs 4–6)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 am - 6:30 pm (1-hour lunch; two 15-minute tea breaks; 7.5 instructional hours)</a:t>
            </a:r>
          </a:p>
          <a:p>
            <a:pPr>
              <a:spcAft>
                <a:spcPts val="1000"/>
              </a:spcAft>
            </a:pPr>
            <a:r>
              <a:rPr sz="1600" b="0">
                <a:solidFill>
                  <a:srgbClr val="161B26"/>
                </a:solidFill>
                <a:latin typeface="Arial"/>
              </a:rPr>
              <a:t>•  Instructional time</a:t>
            </a:r>
          </a:p>
          <a:p>
            <a:pPr>
              <a:spcAft>
                <a:spcPts val="1000"/>
              </a:spcAft>
            </a:pPr>
            <a:r>
              <a:rPr sz="1400" b="0">
                <a:solidFill>
                  <a:srgbClr val="5B6372"/>
                </a:solidFill>
                <a:latin typeface="Arial"/>
              </a:rPr>
              <a:t>–  7.5 hours · 6 connected labs</a:t>
            </a:r>
          </a:p>
          <a:p>
            <a:pPr>
              <a:spcAft>
                <a:spcPts val="1000"/>
              </a:spcAft>
            </a:pPr>
            <a:r>
              <a:rPr sz="1600" b="0">
                <a:solidFill>
                  <a:srgbClr val="161B26"/>
                </a:solidFill>
                <a:latin typeface="Arial"/>
              </a:rPr>
              <a:t>•  Learning arc</a:t>
            </a:r>
          </a:p>
          <a:p>
            <a:pPr>
              <a:spcAft>
                <a:spcPts val="1000"/>
              </a:spcAft>
            </a:pPr>
            <a:r>
              <a:rPr sz="1400" b="0">
                <a:solidFill>
                  <a:srgbClr val="5B6372"/>
                </a:solidFill>
                <a:latin typeface="Arial"/>
              </a:rPr>
              <a:t>–  Concept → demonstrate → build → verify → discuss → recap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Prepare &amp; Prompt</a:t>
            </a:r>
          </a:p>
          <a:p>
            <a:pPr algn="l">
              <a:spcAft>
                <a:spcPts val="300"/>
              </a:spcAft>
            </a:pPr>
            <a:r>
              <a:rPr sz="1300" b="0">
                <a:solidFill>
                  <a:srgbClr val="5B6372"/>
                </a:solidFill>
                <a:latin typeface="Arial"/>
              </a:rPr>
              <a:t>Explain how Copilot works in Excel, prepare an analysis-ready Excel table and write bounded prompts for workbook tasks.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Transform &amp; Calculate</a:t>
            </a:r>
          </a:p>
          <a:p>
            <a:pPr algn="l">
              <a:spcAft>
                <a:spcPts val="300"/>
              </a:spcAft>
            </a:pPr>
            <a:r>
              <a:rPr sz="1300" b="0">
                <a:solidFill>
                  <a:srgbClr val="5B6372"/>
                </a:solidFill>
                <a:latin typeface="Arial"/>
              </a:rPr>
              <a:t>Use Copilot to highlight, sort and filter table data, then generate and verify auditable formula columns.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Summarise &amp; Visualise</a:t>
            </a:r>
          </a:p>
          <a:p>
            <a:pPr algn="l">
              <a:spcAft>
                <a:spcPts val="300"/>
              </a:spcAft>
            </a:pPr>
            <a:r>
              <a:rPr sz="1300" b="0">
                <a:solidFill>
                  <a:srgbClr val="5B6372"/>
                </a:solidFill>
                <a:latin typeface="Arial"/>
              </a:rPr>
              <a:t>Clean and enrich a business dataset, create PivotTables and charts, and interpret patterns without overstating the evidence.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Analyse &amp; Verify</a:t>
            </a:r>
          </a:p>
          <a:p>
            <a:pPr algn="l">
              <a:spcAft>
                <a:spcPts val="300"/>
              </a:spcAft>
            </a:pPr>
            <a:r>
              <a:rPr sz="1300" b="0">
                <a:solidFill>
                  <a:srgbClr val="5B6372"/>
                </a:solidFill>
                <a:latin typeface="Arial"/>
              </a:rPr>
              <a:t>Run advanced analysis with Python-assisted Copilot, reconcile the results and produce a traceable decision summary.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The Verified Copilot-in-Excel Workflow</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Four Layers Visible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Source data</a:t>
            </a:r>
          </a:p>
          <a:p>
            <a:pPr algn="l">
              <a:spcAft>
                <a:spcPts val="300"/>
              </a:spcAft>
            </a:pPr>
            <a:r>
              <a:rPr sz="1300" b="0">
                <a:solidFill>
                  <a:srgbClr val="5B6372"/>
                </a:solidFill>
                <a:latin typeface="Arial"/>
              </a:rPr>
              <a:t>Protected raw rows, documented grain, types, identifiers and control totals.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Copilot action</a:t>
            </a:r>
          </a:p>
          <a:p>
            <a:pPr algn="l">
              <a:spcAft>
                <a:spcPts val="300"/>
              </a:spcAft>
            </a:pPr>
            <a:r>
              <a:rPr sz="1300" b="0">
                <a:solidFill>
                  <a:srgbClr val="5B6372"/>
                </a:solidFill>
                <a:latin typeface="Arial"/>
              </a:rPr>
              <a:t>The prompt, selected mode, proposed logic and exact workbook change.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Verification evidence</a:t>
            </a:r>
          </a:p>
          <a:p>
            <a:pPr algn="l">
              <a:spcAft>
                <a:spcPts val="300"/>
              </a:spcAft>
            </a:pPr>
            <a:r>
              <a:rPr sz="1300" b="0">
                <a:solidFill>
                  <a:srgbClr val="5B6372"/>
                </a:solidFill>
                <a:latin typeface="Arial"/>
              </a:rPr>
              <a:t>Formula checks, reconciliations, Pivot tie-outs and cited source rows.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Human decision</a:t>
            </a:r>
          </a:p>
          <a:p>
            <a:pPr algn="l">
              <a:spcAft>
                <a:spcPts val="300"/>
              </a:spcAft>
            </a:pPr>
            <a:r>
              <a:rPr sz="1300" b="0">
                <a:solidFill>
                  <a:srgbClr val="5B6372"/>
                </a:solidFill>
                <a:latin typeface="Arial"/>
              </a:rPr>
              <a:t>Approved wording, limitations, owner and Share, Revise or Hold outcome.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G-C-D-C-O-R Prompt Framework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One task and the decision or workbook change it supports.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Context</a:t>
            </a:r>
          </a:p>
          <a:p>
            <a:pPr algn="l">
              <a:spcAft>
                <a:spcPts val="300"/>
              </a:spcAft>
            </a:pPr>
            <a:r>
              <a:rPr sz="1200" b="0">
                <a:solidFill>
                  <a:srgbClr val="5B6372"/>
                </a:solidFill>
                <a:latin typeface="Arial"/>
              </a:rPr>
              <a:t>Audience, business situation, units and time period.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a:t>
            </a:r>
          </a:p>
          <a:p>
            <a:pPr algn="l">
              <a:spcAft>
                <a:spcPts val="300"/>
              </a:spcAft>
            </a:pPr>
            <a:r>
              <a:rPr sz="1200" b="0">
                <a:solidFill>
                  <a:srgbClr val="5B6372"/>
                </a:solidFill>
                <a:latin typeface="Arial"/>
              </a:rPr>
              <a:t>Named table, sheets, fields, grain and filters.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Constraints</a:t>
            </a:r>
          </a:p>
          <a:p>
            <a:pPr algn="l">
              <a:spcAft>
                <a:spcPts val="300"/>
              </a:spcAft>
            </a:pPr>
            <a:r>
              <a:rPr sz="1200" b="0">
                <a:solidFill>
                  <a:srgbClr val="5B6372"/>
                </a:solidFill>
                <a:latin typeface="Arial"/>
              </a:rPr>
              <a:t>What must remain unchanged, privacy limits and exclusions.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Output</a:t>
            </a:r>
          </a:p>
          <a:p>
            <a:pPr algn="l">
              <a:spcAft>
                <a:spcPts val="300"/>
              </a:spcAft>
            </a:pPr>
            <a:r>
              <a:rPr sz="1200" b="0">
                <a:solidFill>
                  <a:srgbClr val="5B6372"/>
                </a:solidFill>
                <a:latin typeface="Arial"/>
              </a:rPr>
              <a:t>Formula, table, chart, explanation or exact schema.</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Review</a:t>
            </a:r>
          </a:p>
          <a:p>
            <a:pPr algn="l">
              <a:spcAft>
                <a:spcPts val="300"/>
              </a:spcAft>
            </a:pPr>
            <a:r>
              <a:rPr sz="1200" b="0">
                <a:solidFill>
                  <a:srgbClr val="5B6372"/>
                </a:solidFill>
                <a:latin typeface="Arial"/>
              </a:rPr>
              <a:t>Logic, assumptions, edge cases, controls and acceptance criteria.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C34 OPERATING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Copilot accelerates workbook work; verification determines whether the result is usable.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Protect the source, specify the task, inspect every change and reconcile every headline number.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Prepared workbook</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named Excel table</a:t>
            </a:r>
          </a:p>
          <a:p>
            <a:pPr>
              <a:spcAft>
                <a:spcPts val="900"/>
              </a:spcAft>
            </a:pPr>
            <a:r>
              <a:rPr sz="1400" b="0">
                <a:solidFill>
                  <a:srgbClr val="161B26"/>
                </a:solidFill>
                <a:latin typeface="Arial"/>
              </a:rPr>
              <a:t>•  readiness log</a:t>
            </a:r>
          </a:p>
          <a:p>
            <a:pPr>
              <a:spcAft>
                <a:spcPts val="900"/>
              </a:spcAft>
            </a:pPr>
            <a:r>
              <a:rPr sz="1400" b="0">
                <a:solidFill>
                  <a:srgbClr val="161B26"/>
                </a:solidFill>
                <a:latin typeface="Arial"/>
              </a:rPr>
              <a:t>•  prompt-and-change trail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Analysis workbook</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formula columns</a:t>
            </a:r>
          </a:p>
          <a:p>
            <a:pPr>
              <a:spcAft>
                <a:spcPts val="900"/>
              </a:spcAft>
            </a:pPr>
            <a:r>
              <a:rPr sz="1400" b="0">
                <a:solidFill>
                  <a:srgbClr val="161B26"/>
                </a:solidFill>
                <a:latin typeface="Arial"/>
              </a:rPr>
              <a:t>•  clean table</a:t>
            </a:r>
          </a:p>
          <a:p>
            <a:pPr>
              <a:spcAft>
                <a:spcPts val="900"/>
              </a:spcAft>
            </a:pPr>
            <a:r>
              <a:rPr sz="1400" b="0">
                <a:solidFill>
                  <a:srgbClr val="161B26"/>
                </a:solidFill>
                <a:latin typeface="Arial"/>
              </a:rPr>
              <a:t>•  PivotTables and charts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Decision pack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Python-assisted analysis</a:t>
            </a:r>
          </a:p>
          <a:p>
            <a:pPr>
              <a:spcAft>
                <a:spcPts val="900"/>
              </a:spcAft>
            </a:pPr>
            <a:r>
              <a:rPr sz="1400" b="0">
                <a:solidFill>
                  <a:srgbClr val="161B26"/>
                </a:solidFill>
                <a:latin typeface="Arial"/>
              </a:rPr>
              <a:t>•  reconciliation</a:t>
            </a:r>
          </a:p>
          <a:p>
            <a:pPr>
              <a:spcAft>
                <a:spcPts val="900"/>
              </a:spcAft>
            </a:pPr>
            <a:r>
              <a:rPr sz="1400" b="0">
                <a:solidFill>
                  <a:srgbClr val="161B26"/>
                </a:solidFill>
                <a:latin typeface="Arial"/>
              </a:rPr>
              <a:t>•  verified executive summary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Learning Arc in Every Lab</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Open the supplied checkpoint and state the exact question.</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Prompt Copilot with a named data boundary and review criteria.</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Inspect the workbook change, formula, Pivot or generated code.</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Run the Test It controls and keep the checkpoint for the next lab.</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BEFORE YOU RELY ON A RESULT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C34 Verification Gate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Structure</a:t>
            </a:r>
          </a:p>
          <a:p>
            <a:pPr algn="l">
              <a:spcAft>
                <a:spcPts val="300"/>
              </a:spcAft>
            </a:pPr>
            <a:r>
              <a:rPr sz="1200" b="0">
                <a:solidFill>
                  <a:srgbClr val="5B6372"/>
                </a:solidFill>
                <a:latin typeface="Arial"/>
              </a:rPr>
              <a:t>Does each row have one meaning and do types and categories match the dictionary?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Logic</a:t>
            </a:r>
          </a:p>
          <a:p>
            <a:pPr algn="l">
              <a:spcAft>
                <a:spcPts val="300"/>
              </a:spcAft>
            </a:pPr>
            <a:r>
              <a:rPr sz="1200" b="0">
                <a:solidFill>
                  <a:srgbClr val="5B6372"/>
                </a:solidFill>
                <a:latin typeface="Arial"/>
              </a:rPr>
              <a:t>Do formula, aggregation, denominator, filter and missing-value rules match the question?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Reconciliation</a:t>
            </a:r>
          </a:p>
          <a:p>
            <a:pPr algn="l">
              <a:spcAft>
                <a:spcPts val="300"/>
              </a:spcAft>
            </a:pPr>
            <a:r>
              <a:rPr sz="1200" b="0">
                <a:solidFill>
                  <a:srgbClr val="5B6372"/>
                </a:solidFill>
                <a:latin typeface="Arial"/>
              </a:rPr>
              <a:t>Do independent counts and totals tie to the generated output?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Visual</a:t>
            </a:r>
          </a:p>
          <a:p>
            <a:pPr algn="l">
              <a:spcAft>
                <a:spcPts val="300"/>
              </a:spcAft>
            </a:pPr>
            <a:r>
              <a:rPr sz="1200" b="0">
                <a:solidFill>
                  <a:srgbClr val="5B6372"/>
                </a:solidFill>
                <a:latin typeface="Arial"/>
              </a:rPr>
              <a:t>Are title, units, scale, categories and source linkage accurate?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Claim</a:t>
            </a:r>
          </a:p>
          <a:p>
            <a:pPr algn="l">
              <a:spcAft>
                <a:spcPts val="300"/>
              </a:spcAft>
            </a:pPr>
            <a:r>
              <a:rPr sz="1200" b="0">
                <a:solidFill>
                  <a:srgbClr val="5B6372"/>
                </a:solidFill>
                <a:latin typeface="Arial"/>
              </a:rPr>
              <a:t>Does each sentence distinguish observed evidence from a hypothesis?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Decision</a:t>
            </a:r>
          </a:p>
          <a:p>
            <a:pPr algn="l">
              <a:spcAft>
                <a:spcPts val="300"/>
              </a:spcAft>
            </a:pPr>
            <a:r>
              <a:rPr sz="1200" b="0">
                <a:solidFill>
                  <a:srgbClr val="5B6372"/>
                </a:solidFill>
                <a:latin typeface="Arial"/>
              </a:rPr>
              <a:t>Share, Revise or Hold - with an owner, reason and unresolved limitation.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Copilot in Excel</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Introduction to Microsoft 365 Copilot in Excel · preparing data as Excel tables · effective prompts · highlighting, sorting and filtering · formula columns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First half · 3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Getting Started with Copilot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Copilot work modes</a:t>
            </a:r>
          </a:p>
          <a:p>
            <a:pPr algn="l">
              <a:spcAft>
                <a:spcPts val="300"/>
              </a:spcAft>
            </a:pPr>
            <a:r>
              <a:rPr sz="1200" b="0">
                <a:solidFill>
                  <a:srgbClr val="5B6372"/>
                </a:solidFill>
                <a:latin typeface="Arial"/>
              </a:rPr>
              <a:t>Choose Edit for workbook changes, Plan for a proposed sequence and Chat for analysis that stays in the pane.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Analysis-ready tables</a:t>
            </a:r>
          </a:p>
          <a:p>
            <a:pPr algn="l">
              <a:spcAft>
                <a:spcPts val="300"/>
              </a:spcAft>
            </a:pPr>
            <a:r>
              <a:rPr sz="1200" b="0">
                <a:solidFill>
                  <a:srgbClr val="5B6372"/>
                </a:solidFill>
                <a:latin typeface="Arial"/>
              </a:rPr>
              <a:t>Use one header row, one record per row, one meaning per column and consistent data types.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G-C-D-C-O-R prompts</a:t>
            </a:r>
          </a:p>
          <a:p>
            <a:pPr algn="l">
              <a:spcAft>
                <a:spcPts val="300"/>
              </a:spcAft>
            </a:pPr>
            <a:r>
              <a:rPr sz="1200" b="0">
                <a:solidFill>
                  <a:srgbClr val="5B6372"/>
                </a:solidFill>
                <a:latin typeface="Arial"/>
              </a:rPr>
              <a:t>State Goal, Context, Data, Constraints, Output and Review criteria before Copilot acts.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Reversible operations</a:t>
            </a:r>
          </a:p>
          <a:p>
            <a:pPr algn="l">
              <a:spcAft>
                <a:spcPts val="300"/>
              </a:spcAft>
            </a:pPr>
            <a:r>
              <a:rPr sz="1200" b="0">
                <a:solidFill>
                  <a:srgbClr val="5B6372"/>
                </a:solidFill>
                <a:latin typeface="Arial"/>
              </a:rPr>
              <a:t>Preview, apply, inspect and undo one bounded change rather than combining many opaque edits.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Structured-reference formulas</a:t>
            </a:r>
          </a:p>
          <a:p>
            <a:pPr algn="l">
              <a:spcAft>
                <a:spcPts val="300"/>
              </a:spcAft>
            </a:pPr>
            <a:r>
              <a:rPr sz="1200" b="0">
                <a:solidFill>
                  <a:srgbClr val="5B6372"/>
                </a:solidFill>
                <a:latin typeface="Arial"/>
              </a:rPr>
              <a:t>Prefer formulas that name table columns and update as the table grows.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Control totals</a:t>
            </a:r>
          </a:p>
          <a:p>
            <a:pPr algn="l">
              <a:spcAft>
                <a:spcPts val="300"/>
              </a:spcAft>
            </a:pPr>
            <a:r>
              <a:rPr sz="1200" b="0">
                <a:solidFill>
                  <a:srgbClr val="5B6372"/>
                </a:solidFill>
                <a:latin typeface="Arial"/>
              </a:rPr>
              <a:t>Reconcile counts, sums and edge cases independently before using a result in a decision.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Introduction to Microsoft 365 Copilot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in Excel is a natural-language interface that can build, edit and analyse workbooks using Excel features such as tables, formulas, PivotTables, charts, formatting and worksheet operations. The current experience offers Edit, Plan and Chat choices. Edit can change the workbook, Plan proposes a sequence before changes and Chat keeps the response in the conversation.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same prompt has different consequences depending on the mode. A conversational explanation is low-impact; a direct workbook edit changes shared evidence. Choosing the mode deliberately, saving a protected source sheet and keeping version history available makes experimentation reversible and keeps the human owner accountable for the final workbook.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Introduction to Microsoft 365 Copilot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Confirm the eligible Microsoft 365 account, current Excel version and visible Copilot entry point.</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Choose Chat for questions, Plan when the intended sequence needs review and Edit for an approved change.</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Inspect the proposed or completed work, save a new version and retain the ability to undo or restore.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Introduction to Microsoft 365 Copilot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HarbourLight Retail has a raw order export and needs a weekly operations summary.</a:t>
            </a:r>
          </a:p>
          <a:p>
            <a:pPr>
              <a:spcAft>
                <a:spcPts val="1000"/>
              </a:spcAft>
            </a:pPr>
            <a:r>
              <a:rPr sz="1600" b="0">
                <a:solidFill>
                  <a:srgbClr val="161B26"/>
                </a:solidFill>
                <a:latin typeface="Arial"/>
              </a:rPr>
              <a:t>•  The analyst first asks Chat to describe the columns, then asks Plan for a safe preparation sequence.</a:t>
            </a:r>
          </a:p>
          <a:p>
            <a:pPr>
              <a:spcAft>
                <a:spcPts val="1000"/>
              </a:spcAft>
            </a:pPr>
            <a:r>
              <a:rPr sz="1600" b="0">
                <a:solidFill>
                  <a:srgbClr val="161B26"/>
                </a:solidFill>
                <a:latin typeface="Arial"/>
              </a:rPr>
              <a:t>•  Only after reviewing the plan does the analyst use Edit for one bounded change at a time.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workbook uses a modern supported format and the required Copilot experience is available.</a:t>
            </a:r>
          </a:p>
          <a:p>
            <a:pPr>
              <a:spcAft>
                <a:spcPts val="1000"/>
              </a:spcAft>
            </a:pPr>
            <a:r>
              <a:rPr sz="1400" b="0">
                <a:solidFill>
                  <a:srgbClr val="5B6372"/>
                </a:solidFill>
                <a:latin typeface="Arial"/>
              </a:rPr>
              <a:t>–  The task has a clear owner who can review changes and restore an earlier version if needed.</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prompt would expose secrets, sensitive personal information or data not approved for the service.</a:t>
            </a:r>
          </a:p>
          <a:p>
            <a:pPr>
              <a:spcAft>
                <a:spcPts val="1000"/>
              </a:spcAft>
            </a:pPr>
            <a:r>
              <a:rPr sz="1400" b="0">
                <a:solidFill>
                  <a:srgbClr val="5B6372"/>
                </a:solidFill>
                <a:latin typeface="Arial"/>
              </a:rPr>
              <a:t>–  A high-impact financial, legal or operational decision would rely on an unchecked generated result.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Introduction to Microsoft 365 Copilot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Mode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Match Chat, Plan or Edit to the consequence of the task.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Reversibility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Protect the source, save versions and make one inspectable change at a time.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Ownership</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named person reviews and approves the workbook before it is shared or used.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Preparing Data as Excel Tables for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analysis-ready table has a single header row, one record per row, one variable per column, stable identifiers and consistent types. Excel tables add names, filters and structured references that expand with new rows. They make the intended data boundary clearer to people, formulas and Copilot.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Merged headings, blank rows, subtotals inside the data region, duplicate identifiers and mixed types create ambiguous grain. If one row sometimes means an order and sometimes a subtotal, no prompt can fully repair the analytical logic. Data structure must be corrected before asking for insight.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Preparing Data as Excel Tables for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Identify the grain and primary identifier, then scan for blank headers, blank rows and duplicated IDs.</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Convert the bounded range to a table, confirm headers and give the table a descriptive unique name.</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Check date, text, count, currency and percentage columns; record known defects instead of hiding them.</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Preparing Data as Excel Tables for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Each HarbourLight row represents one order line identified by Order_ID.</a:t>
            </a:r>
          </a:p>
          <a:p>
            <a:pPr>
              <a:spcAft>
                <a:spcPts val="1000"/>
              </a:spcAft>
            </a:pPr>
            <a:r>
              <a:rPr sz="1600" b="0">
                <a:solidFill>
                  <a:srgbClr val="161B26"/>
                </a:solidFill>
                <a:latin typeface="Arial"/>
              </a:rPr>
              <a:t>•  The learner converts the source range into tblOrdersRaw and freezes the header row.</a:t>
            </a:r>
          </a:p>
          <a:p>
            <a:pPr>
              <a:spcAft>
                <a:spcPts val="1000"/>
              </a:spcAft>
            </a:pPr>
            <a:r>
              <a:rPr sz="1600" b="0">
                <a:solidFill>
                  <a:srgbClr val="161B26"/>
                </a:solidFill>
                <a:latin typeface="Arial"/>
              </a:rPr>
              <a:t>•  A data-readiness log records inconsistent Region and Channel text for later controlled cleaning.</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data can be expressed as a rectangular list with a consistent row meaning.</a:t>
            </a:r>
          </a:p>
          <a:p>
            <a:pPr>
              <a:spcAft>
                <a:spcPts val="1000"/>
              </a:spcAft>
            </a:pPr>
            <a:r>
              <a:rPr sz="1400" b="0">
                <a:solidFill>
                  <a:srgbClr val="5B6372"/>
                </a:solidFill>
                <a:latin typeface="Arial"/>
              </a:rPr>
              <a:t>–  Headers can be made unique and each column can be assigned one stable data type.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range mixes several unrelated tables, presentation titles, subtotals and free-form notes.</a:t>
            </a:r>
          </a:p>
          <a:p>
            <a:pPr>
              <a:spcAft>
                <a:spcPts val="1000"/>
              </a:spcAft>
            </a:pPr>
            <a:r>
              <a:rPr sz="1400" b="0">
                <a:solidFill>
                  <a:srgbClr val="5B6372"/>
                </a:solidFill>
                <a:latin typeface="Arial"/>
              </a:rPr>
              <a:t>–  Duplicate identifiers or missing units make the intended record grain unresolved.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Preparing Data as Excel Tables for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Grain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Write one sentence that says exactly what a row represents.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Schema</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unique headers, consistent types and stable categories.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Controls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Record row count, unique-ID count and source totals before transformation.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Writing Effective Prompts for Data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useful prompt is an executable specification. The C34 G-C-D-C-O-R pattern names the Goal, business Context, exact Data boundary, Constraints, required Output and Review checks. It turns words such as 'analyse' or 'clean' into visible acceptance criteria.</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Broad prompts force the model to guess which sheet, columns, period, aggregation and format matter. Specific prompts reduce ambiguity and make the result testable. Follow-up prompts should refine one dimension at a time and keep the original analytical question visible.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Writing Effective Prompts for Data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State one goal and the decision or workbook change it should support.</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Name the table, fields, filters, units and exclusions; request a precise formula, table or chart output.</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Require Copilot to explain its logic, flag assumptions and show the checks a human should perform.</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Writing Effective Prompts for Data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Goal: identify high-value returned orders that need review.</a:t>
            </a:r>
          </a:p>
          <a:p>
            <a:pPr>
              <a:spcAft>
                <a:spcPts val="1000"/>
              </a:spcAft>
            </a:pPr>
            <a:r>
              <a:rPr sz="1600" b="0">
                <a:solidFill>
                  <a:srgbClr val="161B26"/>
                </a:solidFill>
                <a:latin typeface="Arial"/>
              </a:rPr>
              <a:t>•  Data: tblOrdersRaw; use Returned, Units and Unit_Price; do not infer causes from Customer_Note.</a:t>
            </a:r>
          </a:p>
          <a:p>
            <a:pPr>
              <a:spcAft>
                <a:spcPts val="1000"/>
              </a:spcAft>
            </a:pPr>
            <a:r>
              <a:rPr sz="1600" b="0">
                <a:solidFill>
                  <a:srgbClr val="161B26"/>
                </a:solidFill>
                <a:latin typeface="Arial"/>
              </a:rPr>
              <a:t>•  Output: a filter plus a count; Review: show the exact conditions and preserve the full table.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user can name the data boundary and the expected output format.</a:t>
            </a:r>
          </a:p>
          <a:p>
            <a:pPr>
              <a:spcAft>
                <a:spcPts val="1000"/>
              </a:spcAft>
            </a:pPr>
            <a:r>
              <a:rPr sz="1400" b="0">
                <a:solidFill>
                  <a:srgbClr val="5B6372"/>
                </a:solidFill>
                <a:latin typeface="Arial"/>
              </a:rPr>
              <a:t>–  The result has observable acceptance criteria such as a count, formula or explicit condition.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request is 'make this better' with no audience, boundary, rule or decision.</a:t>
            </a:r>
          </a:p>
          <a:p>
            <a:pPr>
              <a:spcAft>
                <a:spcPts val="1000"/>
              </a:spcAft>
            </a:pPr>
            <a:r>
              <a:rPr sz="1400" b="0">
                <a:solidFill>
                  <a:srgbClr val="5B6372"/>
                </a:solidFill>
                <a:latin typeface="Arial"/>
              </a:rPr>
              <a:t>–  The prompt asks Copilot to fill unknown business facts or silently choose a high-impact threshold.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Writing Effective Prompts for Data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Specific</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 the table, fields, period, units and output.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Bounded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State exclusions, privacy limits and what must remain unchanged.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Reviewable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Ask for logic, assumptions, control checks and a clear success condition.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Highlighting, Sorting and Filtering Data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Highlighting changes visual emphasis, sorting changes visible order and filtering changes which rows are shown. None of them changes the underlying business meaning. A prompt should define the comparison rule, tie-break order, filter conditions and whether hidden rows must remain available.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visually persuasive sheet can still be analytically wrong. 'Highlight important orders' is undefined; 'highlight Returned=Yes and Gross_Sales at least 1000' is a reproducible rule. Filters can also hide the denominator, so the filtered count and original row count should be recorded together.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Highlighting, Sorting and Filtering Data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Translate the business question into explicit Boolean conditions and a deterministic sort order.</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Ask Copilot to describe the intended change, then apply it to the named table.</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Count visible matches, clear the filter and confirm that the original row count returns.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Highlighting, Sorting and Filtering Data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team reviews orders where Returned is Yes and gross sales are at least S$1,000.</a:t>
            </a:r>
          </a:p>
          <a:p>
            <a:pPr>
              <a:spcAft>
                <a:spcPts val="1000"/>
              </a:spcAft>
            </a:pPr>
            <a:r>
              <a:rPr sz="1600" b="0">
                <a:solidFill>
                  <a:srgbClr val="161B26"/>
                </a:solidFill>
                <a:latin typeface="Arial"/>
              </a:rPr>
              <a:t>•  Rows are sorted by gross sales descending, then Order_ID ascending to break ties.</a:t>
            </a:r>
          </a:p>
          <a:p>
            <a:pPr>
              <a:spcAft>
                <a:spcPts val="1000"/>
              </a:spcAft>
            </a:pPr>
            <a:r>
              <a:rPr sz="1600" b="0">
                <a:solidFill>
                  <a:srgbClr val="161B26"/>
                </a:solidFill>
                <a:latin typeface="Arial"/>
              </a:rPr>
              <a:t>•  The analyst records both the flagged count and the unchanged total table count.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rule can be written using named fields, operators and values.</a:t>
            </a:r>
          </a:p>
          <a:p>
            <a:pPr>
              <a:spcAft>
                <a:spcPts val="1000"/>
              </a:spcAft>
            </a:pPr>
            <a:r>
              <a:rPr sz="1400" b="0">
                <a:solidFill>
                  <a:srgbClr val="5B6372"/>
                </a:solidFill>
                <a:latin typeface="Arial"/>
              </a:rPr>
              <a:t>–  The workbook owner needs a reversible view, not a deletion of non-matching records.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Colour alone would carry the only record of a business status.</a:t>
            </a:r>
          </a:p>
          <a:p>
            <a:pPr>
              <a:spcAft>
                <a:spcPts val="1000"/>
              </a:spcAft>
            </a:pPr>
            <a:r>
              <a:rPr sz="1400" b="0">
                <a:solidFill>
                  <a:srgbClr val="5B6372"/>
                </a:solidFill>
                <a:latin typeface="Arial"/>
              </a:rPr>
              <a:t>–  Filtering would hide excluded rows from a report without disclosing the denominator.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Highlighting, Sorting and Filtering Data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Rule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Write the exact condition before applying any colour or filter.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Denominator</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Record total rows and visible rows together.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Reversible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Clear the filter and confirm no records were deleted or overwritten.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Generating Formula Columns from Plain-English Requests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can propose native Excel formulas and add calculated columns. In a table, structured references use names such as [@Units] and [@Unit_Price], making row logic easier to read and resilient when the table grows. A generated formula remains a hypothesis until it is checked against the business rule.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Formula syntax can be valid while the logic is wrong: discount might be applied twice, margin might use gross rather than net sales, or blanks might become zero without approval. Formula explanation, edge-case tests and independent totals are therefore part of the task, not optional polish.</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Generating Formula Columns from Plain-English Requests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Write the business rule in words, including units, blank handling, rounding and error behaviour.</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Ask for one structured-reference formula and an explanation before filling the calculated column.</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Test representative, boundary and exceptional rows; then reconcile the column to independent totals.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Generating Formula Columns from Plain-English Requests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Gross_Sales equals Units multiplied by Unit_Price.</a:t>
            </a:r>
          </a:p>
          <a:p>
            <a:pPr>
              <a:spcAft>
                <a:spcPts val="1000"/>
              </a:spcAft>
            </a:pPr>
            <a:r>
              <a:rPr sz="1600" b="0">
                <a:solidFill>
                  <a:srgbClr val="161B26"/>
                </a:solidFill>
                <a:latin typeface="Arial"/>
              </a:rPr>
              <a:t>•  Net_Sales equals Gross_Sales less Gross_Sales times Discount_Rate.</a:t>
            </a:r>
          </a:p>
          <a:p>
            <a:pPr>
              <a:spcAft>
                <a:spcPts val="1000"/>
              </a:spcAft>
            </a:pPr>
            <a:r>
              <a:rPr sz="1600" b="0">
                <a:solidFill>
                  <a:srgbClr val="161B26"/>
                </a:solidFill>
                <a:latin typeface="Arial"/>
              </a:rPr>
              <a:t>•  Margin_Rate uses IFERROR(Gross_Profit divided by Net_Sales, zero), formatted as a percentage.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rule is deterministic and can be expressed using native Excel functions.</a:t>
            </a:r>
          </a:p>
          <a:p>
            <a:pPr>
              <a:spcAft>
                <a:spcPts val="1000"/>
              </a:spcAft>
            </a:pPr>
            <a:r>
              <a:rPr sz="1400" b="0">
                <a:solidFill>
                  <a:srgbClr val="5B6372"/>
                </a:solidFill>
                <a:latin typeface="Arial"/>
              </a:rPr>
              <a:t>–  A control calculation or small hand-worked sample can verify the result.</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requested value is a subjective classification presented as a precise calculation.</a:t>
            </a:r>
          </a:p>
          <a:p>
            <a:pPr>
              <a:spcAft>
                <a:spcPts val="1000"/>
              </a:spcAft>
            </a:pPr>
            <a:r>
              <a:rPr sz="1400" b="0">
                <a:solidFill>
                  <a:srgbClr val="5B6372"/>
                </a:solidFill>
                <a:latin typeface="Arial"/>
              </a:rPr>
              <a:t>–  The formula would embed an unapproved business threshold or conceal missing data.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Generating Formula Columns from Plain-English Requests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Semantics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Confirm the numerator, denominator, units, signs and timing.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Edge cases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Check blanks, zeros, returns, discounts and one high-value row.</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Reconciliation</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Tie column totals to an independent control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Getting Started with Copilot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Prepare the Workbook and Create the Copilot Control Trail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Apply Reproducible Highlights, Sorts and Filters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3</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and Reconcile Formula Columns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Prepare the Workbook and Create the Copilot Control Trail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import the synthetic HarbourLight order file, save it as a modern Excel workbook, convert the source rows into a named table and create Control and Prompt_Log sheets. You will use Copilot in Chat and Plan only to describe the data and propose a safe sequence. The raw source remains unchanged.</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work-c34/C34-HarbourLight-Copilot-Analysis.xlsx with Raw_Orders, Control and Prompt_Log sheets, a tblOrdersRaw table, baseline counts and a recorded Copilot access note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Save the source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Define the grain</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Create the table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Record controls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Excel for Microsoft 365 or Excel for the web · Copilot · harbourlight-orders-raw.csv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Prepare the Workbook and Create the Copilot Control Trail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600" b="0">
                <a:solidFill>
                  <a:srgbClr val="161B26"/>
                </a:solidFill>
                <a:latin typeface="Arial"/>
              </a:rPr>
              <a:t>Raw_Orders must contain table tblOrdersRaw with exactly 36 data rows and 36 populated Order_ID values. Control must show earliest date 2026-01-05, latest date 2026-04-28, 36 rows, 36 populated IDs and the same Units and gross-sales controls as labs/assets/expected-controls.md. Prompt_Log must contain one Chat and one Plan record, both with 'No change' in Workbook_Change. Raw_Orders must still match the CSV.</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Apply Reproducible Highlights, Sorts and Filters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copy the source into a working sheet, state deterministic review rules and ask Copilot to apply highlighting, sorting and filtering one operation at a time. You will record total and visible row counts, clear all filters and confirm that the source and working tables still contain the same orders.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An Orders_Working sheet with tblOrdersWorking, reversible highlighting, an explicit multi-level sort, a returned-order filter and Prompt_Log evidence for every applied change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Copy the source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Write the rules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Apply one change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Count matches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Excel · Copilot Edit or Plan · Control sheet · Prompt_Log</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Apply Reproducible Highlights, Sorts and Filters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600" b="0">
                <a:solidFill>
                  <a:srgbClr val="161B26"/>
                </a:solidFill>
                <a:latin typeface="Arial"/>
              </a:rPr>
              <a:t>The working table must contain 36 rows before and after the filter. The returned-order filter must show the exact count in labs/assets/expected-controls.md; the high-discount rule must match the listed count; and the maximum Units value plus first tie-break order must match the control. After Data &gt; Clear, all 36 orders must be visible. Raw_Orders values and order must remain unchanged.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Reconcile Formula Columns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write the calculation rules in words, ask Copilot for one structured-reference formula at a time and inspect every formula before filling it through the table. You will verify a no-discount row, a discounted row, a returned order, the zero-error path and independent totals on the Control sheet.</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Six calculated columns in tblOrdersWorking - Gross_Sales, Discount_Amount, Net_Sales, Cost_Amount, Gross_Profit and Margin_Rate - plus formula checks and reconciled totals on Control</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Define the rules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Generate one formula</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Inspect the fill</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Test edge cases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Excel formulas · Copilot · structured references · expected-controls.md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Reconcile Formula Columns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600" b="0">
                <a:solidFill>
                  <a:srgbClr val="161B26"/>
                </a:solidFill>
                <a:latin typeface="Arial"/>
              </a:rPr>
              <a:t>All six calculated columns must contain formulas for all 36 rows with no formula-error values. The formula text must use structured references and the overall margin must use total Gross_Profit divided by total Net_Sales. The six totals and the named representative Order_ID checks must exactly match labs/assets/expected-controls.md. Copilot's explanation alone does not satisfy the check.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Getting Started with Copilot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LO1 - Prepare and Prompt: Confirm the available Copilot experience, keep a protected source sheet, convert one-row-per-order data into a named Excel table and use Goal-Context-Data-Constraints-Output-Review prompts.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LO2 - Transform and Calculate: Apply explicit highlight, sort and filter rules; generate structured-reference formulas; and reconcile row-level calculations to independent control totals before relying on them.</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AI-Powered Data Analysis and Insights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Cleaning and enriching data · PivotTables and charts from a prompt · trends, outliers and insights · advanced analysis with Python in Excel · verification and prompt best practices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Second half · 3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AI-Powered Data Analysis and Insights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Defined cleaning rules</a:t>
            </a:r>
          </a:p>
          <a:p>
            <a:pPr algn="l">
              <a:spcAft>
                <a:spcPts val="300"/>
              </a:spcAft>
            </a:pPr>
            <a:r>
              <a:rPr sz="1200" b="0">
                <a:solidFill>
                  <a:srgbClr val="5B6372"/>
                </a:solidFill>
                <a:latin typeface="Arial"/>
              </a:rPr>
              <a:t>Correct only documented text, spacing, format and missing-value issues; preserve the raw source.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Question-to-visual design</a:t>
            </a:r>
          </a:p>
          <a:p>
            <a:pPr algn="l">
              <a:spcAft>
                <a:spcPts val="300"/>
              </a:spcAft>
            </a:pPr>
            <a:r>
              <a:rPr sz="1200" b="0">
                <a:solidFill>
                  <a:srgbClr val="5B6372"/>
                </a:solidFill>
                <a:latin typeface="Arial"/>
              </a:rPr>
              <a:t>Choose grain, dimensions, measures, aggregation and chart form from the decision question.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Descriptive insight</a:t>
            </a:r>
          </a:p>
          <a:p>
            <a:pPr algn="l">
              <a:spcAft>
                <a:spcPts val="300"/>
              </a:spcAft>
            </a:pPr>
            <a:r>
              <a:rPr sz="1200" b="0">
                <a:solidFill>
                  <a:srgbClr val="5B6372"/>
                </a:solidFill>
                <a:latin typeface="Arial"/>
              </a:rPr>
              <a:t>Describe comparison, trend, distribution and outlier evidence before considering explanations.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Python-assisted analysis</a:t>
            </a:r>
          </a:p>
          <a:p>
            <a:pPr algn="l">
              <a:spcAft>
                <a:spcPts val="300"/>
              </a:spcAft>
            </a:pPr>
            <a:r>
              <a:rPr sz="1200" b="0">
                <a:solidFill>
                  <a:srgbClr val="5B6372"/>
                </a:solidFill>
                <a:latin typeface="Arial"/>
              </a:rPr>
              <a:t>Review the referenced data, generated code, statistical method and returned output together.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Static versus refreshable output</a:t>
            </a:r>
          </a:p>
          <a:p>
            <a:pPr algn="l">
              <a:spcAft>
                <a:spcPts val="300"/>
              </a:spcAft>
            </a:pPr>
            <a:r>
              <a:rPr sz="1200" b="0">
                <a:solidFill>
                  <a:srgbClr val="5B6372"/>
                </a:solidFill>
                <a:latin typeface="Arial"/>
              </a:rPr>
              <a:t>Label inserted images or tables that do not update when source data changes.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 chain</a:t>
            </a:r>
          </a:p>
          <a:p>
            <a:pPr algn="l">
              <a:spcAft>
                <a:spcPts val="300"/>
              </a:spcAft>
            </a:pPr>
            <a:r>
              <a:rPr sz="1200" b="0">
                <a:solidFill>
                  <a:srgbClr val="5B6372"/>
                </a:solidFill>
                <a:latin typeface="Arial"/>
              </a:rPr>
              <a:t>Trace every headline claim to source rows, a calculation and an independent cross-check.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Cleaning and Enriching Data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Cleaning makes existing values conform to a defined schema; enrichment adds a new field from a rule, lookup or reviewed classification. The source sheet should remain unchanged. The cleaning log records the issue, rule, affected count and verification so corrections are auditable.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Inconsistent text, number formats and extra spaces can split categories or produce wrong summaries. Microsoft's Clean Data experience focuses on these common patterns, but availability can vary. A manual or Copilot-assisted correction still needs a canonical value list and before/after counts.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Cleaning and Enriching Data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Profile the source and compare observed values with the supplied data dictionary.</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Copy the table to a working sheet; correct one issue type at a time and log the affected rows.</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Add deterministic enrichment first, then review any text classification row by row against a taxonomy.</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Cleaning and Enriching Data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Region values such as 'north', 'North ' and 'NORTH' become the canonical value 'North'.</a:t>
            </a:r>
          </a:p>
          <a:p>
            <a:pPr>
              <a:spcAft>
                <a:spcPts val="1000"/>
              </a:spcAft>
            </a:pPr>
            <a:r>
              <a:rPr sz="1600" b="0">
                <a:solidFill>
                  <a:srgbClr val="161B26"/>
                </a:solidFill>
                <a:latin typeface="Arial"/>
              </a:rPr>
              <a:t>•  Channel values map only to Store, Online or Partner according to the dictionary.</a:t>
            </a:r>
          </a:p>
          <a:p>
            <a:pPr>
              <a:spcAft>
                <a:spcPts val="1000"/>
              </a:spcAft>
            </a:pPr>
            <a:r>
              <a:rPr sz="1600" b="0">
                <a:solidFill>
                  <a:srgbClr val="161B26"/>
                </a:solidFill>
                <a:latin typeface="Arial"/>
              </a:rPr>
              <a:t>•  Customer_Note receives a reviewed Note_Theme; blanks remain 'No note' rather than invented feedback.</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canonical schema and acceptable value set are documented.</a:t>
            </a:r>
          </a:p>
          <a:p>
            <a:pPr>
              <a:spcAft>
                <a:spcPts val="1000"/>
              </a:spcAft>
            </a:pPr>
            <a:r>
              <a:rPr sz="1400" b="0">
                <a:solidFill>
                  <a:srgbClr val="5B6372"/>
                </a:solidFill>
                <a:latin typeface="Arial"/>
              </a:rPr>
              <a:t>–  The original data and a change log are retained for comparison.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correction would guess a missing business fact or overwrite an identifier.</a:t>
            </a:r>
          </a:p>
          <a:p>
            <a:pPr>
              <a:spcAft>
                <a:spcPts val="1000"/>
              </a:spcAft>
            </a:pPr>
            <a:r>
              <a:rPr sz="1400" b="0">
                <a:solidFill>
                  <a:srgbClr val="5B6372"/>
                </a:solidFill>
                <a:latin typeface="Arial"/>
              </a:rPr>
              <a:t>–  A free-text classification will be treated as objective truth without human review.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Cleaning and Enriching Data with Copilot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Preserve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Keep the raw sheet unchanged and make corrections in a working table.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Count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Record affected rows before and after each rule.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Taxonomy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a small defined category list and retain Unknown when evidence is insufficient.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Building PivotTables and Charts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PivotTable aggregates measures across dimensions at a chosen grain. A chart encodes that summary visually. A complete prompt names the source table, row and column fields, aggregation, filters, order, chart type, title and the decision the view should support.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can build a polished result quickly, but speed does not resolve analytical design. Sum of sales, average margin and count of orders answer different questions. A chart can also exaggerate differences through an unsuitable scale, missing units or too many categories.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Building PivotTables and Charts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State the decision question, grain, dimensions, measures and required filters.</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Generate the PivotTable first and reconcile its grand total to the cleaned table.</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Choose a chart that fits comparison or time trend, then verify title, units, labels and source link.</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Building PivotTables and Charts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Question: how did monthly net sales change by canonical region?</a:t>
            </a:r>
          </a:p>
          <a:p>
            <a:pPr>
              <a:spcAft>
                <a:spcPts val="1000"/>
              </a:spcAft>
            </a:pPr>
            <a:r>
              <a:rPr sz="1600" b="0">
                <a:solidFill>
                  <a:srgbClr val="161B26"/>
                </a:solidFill>
                <a:latin typeface="Arial"/>
              </a:rPr>
              <a:t>•  Rows use Month, columns use Region and values use Sum of Net_Sales.</a:t>
            </a:r>
          </a:p>
          <a:p>
            <a:pPr>
              <a:spcAft>
                <a:spcPts val="1000"/>
              </a:spcAft>
            </a:pPr>
            <a:r>
              <a:rPr sz="1600" b="0">
                <a:solidFill>
                  <a:srgbClr val="161B26"/>
                </a:solidFill>
                <a:latin typeface="Arial"/>
              </a:rPr>
              <a:t>•  A line chart shows month on the x-axis and S$ net sales on the y-axis; the Pivot grand total must tie out.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table has a stable grain and measures have defined aggregations.</a:t>
            </a:r>
          </a:p>
          <a:p>
            <a:pPr>
              <a:spcAft>
                <a:spcPts val="1000"/>
              </a:spcAft>
            </a:pPr>
            <a:r>
              <a:rPr sz="1400" b="0">
                <a:solidFill>
                  <a:srgbClr val="5B6372"/>
                </a:solidFill>
                <a:latin typeface="Arial"/>
              </a:rPr>
              <a:t>–  The intended comparison or trend can be shown without hiding material categories.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measure is a percentage that should be recomputed from totals rather than averaged row by row.</a:t>
            </a:r>
          </a:p>
          <a:p>
            <a:pPr>
              <a:spcAft>
                <a:spcPts val="1000"/>
              </a:spcAft>
            </a:pPr>
            <a:r>
              <a:rPr sz="1400" b="0">
                <a:solidFill>
                  <a:srgbClr val="5B6372"/>
                </a:solidFill>
                <a:latin typeface="Arial"/>
              </a:rPr>
              <a:t>–  A chart is requested before the question, denominator or aggregation is agreed.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Building PivotTables and Charts from a Prompt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Grain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 what one Pivot cell represents.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Tie-out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Reconcile the Pivot grand total to the source-table control.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Chart truth</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Show units, full categories and an honest scale appropriate to the question.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Surfacing Trends, Outliers and Insights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trend describes change across an ordered period; an outlier is an observation unusually distant under a stated rule; an insight connects a verified pattern to a relevant decision. None of these, by itself, proves why the pattern occurred.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Prompts such as 'what is interesting?' can surface useful candidates, but they can also produce selective or causal-sounding narratives. Start with a baseline, comparison and explicit outlier rule. Label observed values separately from hypotheses that require more evidence.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Surfacing Trends, Outliers and Insights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Define the metric, period, comparison and minimum volume needed for interpretation.</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Ask for descriptive results and an explicit outlier rule before requesting explanations.</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Cross-check the cited rows, record limitations and convert only relevant verified patterns into actions.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Surfacing Trends, Outliers and Insights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Monthly net sales are compared by region, while returned-order rate uses returned orders divided by orders.</a:t>
            </a:r>
          </a:p>
          <a:p>
            <a:pPr>
              <a:spcAft>
                <a:spcPts val="1000"/>
              </a:spcAft>
            </a:pPr>
            <a:r>
              <a:rPr sz="1600" b="0">
                <a:solidFill>
                  <a:srgbClr val="161B26"/>
                </a:solidFill>
                <a:latin typeface="Arial"/>
              </a:rPr>
              <a:t>•  High-value orders are flagged by a stated IQR rule and then inspected for data-quality issues.</a:t>
            </a:r>
          </a:p>
          <a:p>
            <a:pPr>
              <a:spcAft>
                <a:spcPts val="1000"/>
              </a:spcAft>
            </a:pPr>
            <a:r>
              <a:rPr sz="1600" b="0">
                <a:solidFill>
                  <a:srgbClr val="161B26"/>
                </a:solidFill>
                <a:latin typeface="Arial"/>
              </a:rPr>
              <a:t>•  A spike is described as observed; promotion, channel mix or data error remain hypotheses.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time order, denominator and comparison group are stable.</a:t>
            </a:r>
          </a:p>
          <a:p>
            <a:pPr>
              <a:spcAft>
                <a:spcPts val="1000"/>
              </a:spcAft>
            </a:pPr>
            <a:r>
              <a:rPr sz="1400" b="0">
                <a:solidFill>
                  <a:srgbClr val="5B6372"/>
                </a:solidFill>
                <a:latin typeface="Arial"/>
              </a:rPr>
              <a:t>–  The output cites underlying values and states the method used to identify an outlier.</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short or incomplete period is used to claim a persistent trend.</a:t>
            </a:r>
          </a:p>
          <a:p>
            <a:pPr>
              <a:spcAft>
                <a:spcPts val="1000"/>
              </a:spcAft>
            </a:pPr>
            <a:r>
              <a:rPr sz="1400" b="0">
                <a:solidFill>
                  <a:srgbClr val="5B6372"/>
                </a:solidFill>
                <a:latin typeface="Arial"/>
              </a:rPr>
              <a:t>–  Correlation or a coincident change is presented as a proven cause.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Surfacing Trends, Outliers and Insights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Baseline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Show the comparison period, denominator and sample size.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Method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State the trend or outlier rule in reproducible terms.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Language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observed for evidence and hypothesis for a possible explanation.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Advanced Analysis with Python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can use Python-based analysis to interpret a question, compute statistics and return explanations, tables or visuals. Direct-answer output may be static. Advanced analysis can open a new sheet and expose Python code or a refreshable Python cell, depending on the available experience.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Python expands the range of analysis but does not remove review obligations. The analyst must verify the referenced data, cleaning choices, grouping logic, missing-value treatment, statistical method and returned values. Python in Excel runs in a Microsoft cloud container and has defined access and network boundaries.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Advanced Analysis with Python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Ask a precise analytical question and state the table, fields, period, grouping and expected output.</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Open the generated logic or code; inspect row filters, aggregations, missing values and method assumptions.</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Recompute headline results with Excel or a PivotTable, label static outputs and save the analysis notes.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Advanced Analysis with Python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team asks for monthly net-sales trends, return rates and an IQR review of high-value orders.</a:t>
            </a:r>
          </a:p>
          <a:p>
            <a:pPr>
              <a:spcAft>
                <a:spcPts val="1000"/>
              </a:spcAft>
            </a:pPr>
            <a:r>
              <a:rPr sz="1600" b="0">
                <a:solidFill>
                  <a:srgbClr val="161B26"/>
                </a:solidFill>
                <a:latin typeface="Arial"/>
              </a:rPr>
              <a:t>•  Generated Python groups only canonical rows and reports the count excluded for unresolved categories.</a:t>
            </a:r>
          </a:p>
          <a:p>
            <a:pPr>
              <a:spcAft>
                <a:spcPts val="1000"/>
              </a:spcAft>
            </a:pPr>
            <a:r>
              <a:rPr sz="1600" b="0">
                <a:solidFill>
                  <a:srgbClr val="161B26"/>
                </a:solidFill>
                <a:latin typeface="Arial"/>
              </a:rPr>
              <a:t>•  Excel control cells and the Pivot grand total independently confirm the headline values.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question needs deeper exploratory statistics or visuals and the available license supports the feature.</a:t>
            </a:r>
          </a:p>
          <a:p>
            <a:pPr>
              <a:spcAft>
                <a:spcPts val="1000"/>
              </a:spcAft>
            </a:pPr>
            <a:r>
              <a:rPr sz="1400" b="0">
                <a:solidFill>
                  <a:srgbClr val="5B6372"/>
                </a:solidFill>
                <a:latin typeface="Arial"/>
              </a:rPr>
              <a:t>–  A reviewer can inspect the generated method and reproduce headline results independently.</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analysis depends on unavailable external network calls or hidden local files.</a:t>
            </a:r>
          </a:p>
          <a:p>
            <a:pPr>
              <a:spcAft>
                <a:spcPts val="1000"/>
              </a:spcAft>
            </a:pPr>
            <a:r>
              <a:rPr sz="1400" b="0">
                <a:solidFill>
                  <a:srgbClr val="5B6372"/>
                </a:solidFill>
                <a:latin typeface="Arial"/>
              </a:rPr>
              <a:t>–  A static inserted output will be mistaken for a refreshable result after the source changes.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Advanced Analysis with Python in Excel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Inputs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Confirm the exact table, rows, columns, filters and missing-value treatment.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Method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Review code and assumptions; do not accept the narrative alone.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Reproducibility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Tie headline values to Excel controls and label static outputs visibly.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Verifying Results and Prompt Best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Verification is a chain of checks from source structure to formula, aggregation, visual and written claim. The C34 quality gate uses protected source data, a prompt log, edge-case tests, independent control totals, traceable claims and a named human decision.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Copilot can produce fluent explanations and valid-looking formulas that are incomplete or wrong. Microsoft advises users to review, edit and verify generated content. A compact repeatable gate makes that advice operational and prevents an attractive workbook from bypassing basic evidence checks.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Verifying Results and Prompt Best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Validate row grain, types, category values, duplicates and source control totals.</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Inspect formulas, representative rows, Pivot totals, chart encodings and Python logic.</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Record each claim, supporting value, limitation, owner and Share, Revise or Hold decision.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Verifying Results and Prompt Best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executive summary states a regional sales movement and cites the Pivot values behind it.</a:t>
            </a:r>
          </a:p>
          <a:p>
            <a:pPr>
              <a:spcAft>
                <a:spcPts val="1000"/>
              </a:spcAft>
            </a:pPr>
            <a:r>
              <a:rPr sz="1600" b="0">
                <a:solidFill>
                  <a:srgbClr val="161B26"/>
                </a:solidFill>
                <a:latin typeface="Arial"/>
              </a:rPr>
              <a:t>•  A return-rate statement shows numerator and denominator, not only the percentage.</a:t>
            </a:r>
          </a:p>
          <a:p>
            <a:pPr>
              <a:spcAft>
                <a:spcPts val="1000"/>
              </a:spcAft>
            </a:pPr>
            <a:r>
              <a:rPr sz="1600" b="0">
                <a:solidFill>
                  <a:srgbClr val="161B26"/>
                </a:solidFill>
                <a:latin typeface="Arial"/>
              </a:rPr>
              <a:t>•  An outlier explanation stays a hypothesis until operational evidence supports it.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Any generated output will be shared, used in a decision or reused as a template.</a:t>
            </a:r>
          </a:p>
          <a:p>
            <a:pPr>
              <a:spcAft>
                <a:spcPts val="1000"/>
              </a:spcAft>
            </a:pPr>
            <a:r>
              <a:rPr sz="1400" b="0">
                <a:solidFill>
                  <a:srgbClr val="5B6372"/>
                </a:solidFill>
                <a:latin typeface="Arial"/>
              </a:rPr>
              <a:t>–  Another reviewer needs to reproduce the conclusion without relying on the chat history.</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fluent answer is treated as proof without checking the workbook.</a:t>
            </a:r>
          </a:p>
          <a:p>
            <a:pPr>
              <a:spcAft>
                <a:spcPts val="1000"/>
              </a:spcAft>
            </a:pPr>
            <a:r>
              <a:rPr sz="1400" b="0">
                <a:solidFill>
                  <a:srgbClr val="5B6372"/>
                </a:solidFill>
                <a:latin typeface="Arial"/>
              </a:rPr>
              <a:t>–  A control total is copied from the same generated output it is supposed to verify.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Verifying Results and Prompt Best Practices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Independent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a different method or source for the control check.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Traceable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Link every headline statement to cells, rows or a documented calculation.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Decisive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Choose Share, Revise or Hold and state the owner and unresolved limitation.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AI-Powered Data Analysis and Insights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Clean and Enrich the Analysis Table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Reconciled PivotTables and Charts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 Advanced Analysis and Write the Verified Decision Summary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and Enrich the Analysis Table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copy the formula-complete working table to Orders_Clean, profile observed category values and apply the supplied canonical rules one issue at a time. You will add Month, Return_Flag and Note_Theme fields, retain Unknown when a note is ambiguous and prove that cleaning did not change row-level monetary results.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An Orders_Clean sheet with tblOrdersClean, canonical categories, Month, Return_Flag and Note_Theme fields, plus a cleaning log and before/after control checks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Copy the working table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Profile categories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Clean one rule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Add analysis fields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Excel · Copilot · Clean Data when available · harbourlight-data-dictionary.md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and Enrich the Analysis Table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800" b="0">
                <a:solidFill>
                  <a:srgbClr val="161B26"/>
                </a:solidFill>
                <a:latin typeface="Arial"/>
              </a:rPr>
              <a:t>tblOrdersClean must contain 36 rows and 36 populated Order_ID values. Region must have exactly three canonical values and Channel exactly three. Month must contain only 2026-01 through 2026-04. Sum of Return_Flag, the five monetary totals and all Note_Theme counts must match labs/assets/expected-controls.md. Raw_Orders and Orders_Working must remain unchanged.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Reconciled PivotTables and Charts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define two decision questions before asking Copilot to build anything. The first PivotTable and line chart show monthly net sales by canonical region. The second summary shows returned orders, order count and return rate by channel. You will verify grand totals, denominators, titles, units and source linkage.</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 Pivot_Analysis sheet with two PivotTables, a monthly regional net-sales line chart, a channel return-rate chart, tie-out cells and a Prompt_Log record for each object</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State the questions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Build the Pivot</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Tie the total</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Create the chart</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Excel PivotTables · Excel charts · Copilot · tblOrdersClean · expected-controls.md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Reconciled PivotTables and Charts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600" b="0">
                <a:solidFill>
                  <a:srgbClr val="161B26"/>
                </a:solidFill>
                <a:latin typeface="Arial"/>
              </a:rPr>
              <a:t>Pivot A must contain four months, three regions and a grand total equal to tblOrdersClean Net_Sales with a 0.00 tie-out. Pivot B must show three channels, returned-order count, order count and rates that match labs/assets/expected-controls.md; the overall rate must use grand-total numerator and denominator. Both charts must be editable, linked, fully titled and use the correct units.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Run Advanced Analysis and Write the Verified Decision Summary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You will ask Copilot for direct answers and advanced analysis using only tblOrdersClean. You will review the referenced fields, filters, groupings, IQR logic and generated code or explanation. You will reconcile the headline values to the Control and Pivot_Analysis sheets, then create a concise executive summary that keeps observations, hypotheses and limitations separate.</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An Advanced_Analysis sheet with prompt, method, generated output and reconciliation; plus an Executive_Summary sheet with three verified findings, limitations, actions and a final decision</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Write the brief</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Run advanced analysis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Inspect the logic</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Reconcile headlines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Copilot direct answers · advanced analysis with Python in Excel · Excel controls · Pivot_Analysis · advanced-analysis-fallback.md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Run Advanced Analysis and Write the Verified Decision Summary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600" b="0">
                <a:solidFill>
                  <a:srgbClr val="161B26"/>
                </a:solidFill>
                <a:latin typeface="Arial"/>
              </a:rPr>
              <a:t>Advanced_Analysis must contain the completed brief, direct answer, reviewed code or method, output-type label and reconciliation table. Every required metric and outlier must match labs/assets/expected-controls.md within the stated tolerance. Executive_Summary must contain exactly three findings, evidence references, types, next checks, owners, four required limitations and a final SHARE, REVISE or HOLD decision. SHARE is allowed only when every reconciliation status is OK.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AI-Powered Data Analysis and Insights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LO3 - Summarise and Visualise: Correct defined quality issues, build PivotTables at the intended grain, choose charts that match the question and separate observed patterns from possible explanations.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LO4 - Analyse and Verify: State the analytical question, review Python-based logic and outputs, cross-check headline values, record limitations and communicate only decision-relevant, evidence-backed findings.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Prepare &amp; Prompt</a:t>
            </a:r>
          </a:p>
          <a:p>
            <a:pPr algn="l">
              <a:spcAft>
                <a:spcPts val="300"/>
              </a:spcAft>
            </a:pPr>
            <a:r>
              <a:rPr sz="1300" b="0">
                <a:solidFill>
                  <a:srgbClr val="5B6372"/>
                </a:solidFill>
                <a:latin typeface="Arial"/>
              </a:rPr>
              <a:t>Explain how Copilot works in Excel, prepare an analysis-ready Excel table and write bounded prompts for workbook tasks.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Transform &amp; Calculate</a:t>
            </a:r>
          </a:p>
          <a:p>
            <a:pPr algn="l">
              <a:spcAft>
                <a:spcPts val="300"/>
              </a:spcAft>
            </a:pPr>
            <a:r>
              <a:rPr sz="1300" b="0">
                <a:solidFill>
                  <a:srgbClr val="5B6372"/>
                </a:solidFill>
                <a:latin typeface="Arial"/>
              </a:rPr>
              <a:t>Use Copilot to highlight, sort and filter table data, then generate and verify auditable formula columns.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Summarise &amp; Visualise</a:t>
            </a:r>
          </a:p>
          <a:p>
            <a:pPr algn="l">
              <a:spcAft>
                <a:spcPts val="300"/>
              </a:spcAft>
            </a:pPr>
            <a:r>
              <a:rPr sz="1300" b="0">
                <a:solidFill>
                  <a:srgbClr val="5B6372"/>
                </a:solidFill>
                <a:latin typeface="Arial"/>
              </a:rPr>
              <a:t>Clean and enrich a business dataset, create PivotTables and charts, and interpret patterns without overstating the evidence.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Analyse &amp; Verify</a:t>
            </a:r>
          </a:p>
          <a:p>
            <a:pPr algn="l">
              <a:spcAft>
                <a:spcPts val="300"/>
              </a:spcAft>
            </a:pPr>
            <a:r>
              <a:rPr sz="1300" b="0">
                <a:solidFill>
                  <a:srgbClr val="5B6372"/>
                </a:solidFill>
                <a:latin typeface="Arial"/>
              </a:rPr>
              <a:t>Run advanced analysis with Python-assisted Copilot, reconcile the results and produce a traceable decision summary.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Continue the Verified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Reuse the prepared prompt and verification templates on an authorised workbook.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a protected source sheet and visible controls in every Copilot-assisted model.</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Refresh PivotTables and rerun checks whenever the source data changes.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Review generated code, formulas and claims before sharing a decision summary.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your downloaded C34 course files and use the lab checkpoints to restart safely.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MICROSOFT 365 COPILOT FOR EXCEL · C34</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prepare, transform, analyse and verify Excel work with Copilot while keeping source evidence, formula logic and human judgment in control.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Microsoft 365 Copilot for Excel  ·  C34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